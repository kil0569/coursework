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7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9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00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10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14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76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87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3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14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2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008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016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872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649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544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324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25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CED8E-B49E-47F6-9FA5-606A5C7F214E}" type="datetimeFigureOut">
              <a:rPr lang="en-GB" smtClean="0"/>
              <a:t>27/02/2025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87905-3867-415B-905B-F20EE6019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672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FF639-F4BB-0009-F66A-B73144B2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65B55-78B0-91AE-957F-365AE40C24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Cybersecurity Architecture Final Presentation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03A9C-50FF-939E-0888-1DB34EA173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Dominic Bumpus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47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634E-9756-8F68-EB3A-F577EF63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Networks: Firewalls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79B4-0E15-489A-EF35-77829452E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/>
          </a:bodyPr>
          <a:lstStyle/>
          <a:p>
            <a:r>
              <a:rPr lang="en-US" sz="3600" dirty="0"/>
              <a:t>Firewall prevents Spread of a Threat</a:t>
            </a:r>
          </a:p>
          <a:p>
            <a:r>
              <a:rPr lang="en-US" sz="3600" dirty="0"/>
              <a:t>Packet Filtering Checks Ports, Address, And Destination of Packets</a:t>
            </a:r>
          </a:p>
          <a:p>
            <a:r>
              <a:rPr lang="en-US" sz="3600" dirty="0"/>
              <a:t>Can Also Check The Payload of the Packet</a:t>
            </a:r>
          </a:p>
          <a:p>
            <a:r>
              <a:rPr lang="en-US" sz="3600" dirty="0"/>
              <a:t>A Proxy Can Be Used to Create Another Gap Between Sender and Destination</a:t>
            </a:r>
          </a:p>
          <a:p>
            <a:r>
              <a:rPr lang="en-US" sz="3600" dirty="0"/>
              <a:t>Network Addresses also Separate Internal and External Traffic</a:t>
            </a:r>
          </a:p>
          <a:p>
            <a:endParaRPr lang="en-US" sz="36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78436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75F6-7E3B-19EF-9C6A-F242AF99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Networks: Segmentation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5E3D-6AC2-714E-6321-895F68245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Bastion Segmentation Puts a Firewall After the Server</a:t>
            </a:r>
          </a:p>
          <a:p>
            <a:r>
              <a:rPr lang="en-US" sz="3600" dirty="0"/>
              <a:t>Tri-Homed Segmentation Uses Multiple Network Cards to Protect A Network</a:t>
            </a:r>
          </a:p>
          <a:p>
            <a:r>
              <a:rPr lang="en-US" sz="3600" dirty="0"/>
              <a:t>Basic DMZ Segmentation uses Two Firewalls</a:t>
            </a:r>
          </a:p>
          <a:p>
            <a:r>
              <a:rPr lang="en-US" sz="3600" dirty="0"/>
              <a:t>Multi-Tiered Segmentation uses Multiple Firewalls to Create Different Zones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4914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A6285-9D69-07A7-632E-29677C33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Networks: VPNs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46DB7-E720-346D-C0C8-C5742D9E4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Gives a Secure Channel Over an Untrusted Network</a:t>
            </a:r>
          </a:p>
          <a:p>
            <a:r>
              <a:rPr lang="en-US" sz="3600" dirty="0"/>
              <a:t>Encrypts All Information Sent</a:t>
            </a:r>
          </a:p>
          <a:p>
            <a:r>
              <a:rPr lang="en-US" sz="3600" dirty="0"/>
              <a:t>Limits Security Inspections of Data</a:t>
            </a:r>
          </a:p>
          <a:p>
            <a:r>
              <a:rPr lang="en-US" sz="3600" dirty="0"/>
              <a:t>VPNs are Moving From Broad Scope to Application Specific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069614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9C25-92EF-9723-7534-752273B0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Networks: SASE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39C7-0326-62A2-1E39-73ADDAB5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Secure Access Service Edge</a:t>
            </a:r>
          </a:p>
          <a:p>
            <a:r>
              <a:rPr lang="en-US" sz="3600" dirty="0"/>
              <a:t>Combines Many Functions Into One Service Through the Cloud</a:t>
            </a:r>
          </a:p>
          <a:p>
            <a:r>
              <a:rPr lang="en-US" sz="3600" dirty="0"/>
              <a:t>Contains Networks, Security, and the Cloud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64163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DCC5-CC33-110D-3ED1-4A36ADDF5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Security: SDLC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7224-EEDD-ABB5-11C5-E5AB2A04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Software Development Life Cycle</a:t>
            </a:r>
          </a:p>
          <a:p>
            <a:r>
              <a:rPr lang="en-US" sz="3600" dirty="0"/>
              <a:t>Design Phase -&gt; Coding Phase -&gt; Testing Phase -&gt; Production Release</a:t>
            </a:r>
          </a:p>
          <a:p>
            <a:r>
              <a:rPr lang="en-US" sz="3600" dirty="0"/>
              <a:t>DevOps is a Cyclical Process</a:t>
            </a:r>
          </a:p>
          <a:p>
            <a:r>
              <a:rPr lang="en-US" sz="3600" dirty="0"/>
              <a:t>DevSecOps puts Security in Every Phase of DevOps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00509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1777-29B9-4DA9-778A-C8E4EA67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8F7B-F801-A649-2075-562FD0C3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Security: Secure Coding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AF7F1-2FBB-1446-35B1-731E531F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Needs: Secure Coding Practices, Trusted Libraries, Standard Architectures, Mistakes to Avoid, and Software Bill of Materials</a:t>
            </a:r>
          </a:p>
          <a:p>
            <a:r>
              <a:rPr lang="en-US" sz="3600" dirty="0"/>
              <a:t>Tools such as </a:t>
            </a:r>
            <a:r>
              <a:rPr lang="en-US" sz="3600" dirty="0" err="1"/>
              <a:t>OWASP.Org</a:t>
            </a:r>
            <a:r>
              <a:rPr lang="en-US" sz="3600" dirty="0"/>
              <a:t> Can be used</a:t>
            </a:r>
          </a:p>
          <a:p>
            <a:r>
              <a:rPr lang="en-US" sz="3600" dirty="0"/>
              <a:t>Software Bill of Materials Covers Components, Libraries, Dependencies, Versions, Origins, and Vulnerabilities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3325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17E6-9A06-DF95-0C31-A3EAB616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F095F-2DF4-72F7-C70F-151F48C0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Security: Vulnerability Testing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8D360-F851-76CF-2C00-D1930190D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Static Application Security Testing (Source Code)</a:t>
            </a:r>
          </a:p>
          <a:p>
            <a:r>
              <a:rPr lang="en-US" sz="3600" dirty="0"/>
              <a:t>Dynamic Application Security Testing (Running Application)</a:t>
            </a:r>
          </a:p>
          <a:p>
            <a:r>
              <a:rPr lang="en-US" sz="3600" dirty="0"/>
              <a:t>Both Work Well Together</a:t>
            </a:r>
          </a:p>
          <a:p>
            <a:r>
              <a:rPr lang="en-US" sz="3600" dirty="0"/>
              <a:t>Chatbots Can Be Used To Generate Code and Debug Quickly But Also Inject Vulnerabilities and Expose Your Intellectual Property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0458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68426-1D9E-4D50-1C17-C77429BA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0B5E-CA4F-C55B-EEF4-53BAD4B0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Security: Why?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1438F-FAB0-0E19-5227-CE12A60CC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$4.35 Million is Average Cost of a Data Breach Worldwide</a:t>
            </a:r>
          </a:p>
          <a:p>
            <a:r>
              <a:rPr lang="en-US" sz="3600" dirty="0"/>
              <a:t>$9.44 Million is Average Cost of a Data Breach in the US</a:t>
            </a:r>
          </a:p>
          <a:p>
            <a:r>
              <a:rPr lang="en-US" sz="3600" dirty="0"/>
              <a:t>83% Of Organization Will Be Hit By More Than One Data Breach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96101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90D3-E018-362F-0E93-ABCA5367D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2C0F-9034-F538-88F9-517F0C89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Security: Governance and Discovery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9BA1B-DF4A-D84D-0524-555AAB70F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/>
          </a:bodyPr>
          <a:lstStyle/>
          <a:p>
            <a:r>
              <a:rPr lang="en-US" sz="3600" dirty="0"/>
              <a:t>Data Security Policy</a:t>
            </a:r>
          </a:p>
          <a:p>
            <a:pPr lvl="1"/>
            <a:r>
              <a:rPr lang="en-GB" sz="3400" dirty="0"/>
              <a:t>Classify Data Importance</a:t>
            </a:r>
          </a:p>
          <a:p>
            <a:pPr lvl="1"/>
            <a:r>
              <a:rPr lang="en-GB" sz="3400" dirty="0"/>
              <a:t>Catalog Data Locations</a:t>
            </a:r>
          </a:p>
          <a:p>
            <a:pPr lvl="1"/>
            <a:r>
              <a:rPr lang="en-GB" sz="3400" dirty="0"/>
              <a:t>Build a Resilience Plan</a:t>
            </a:r>
            <a:endParaRPr lang="en-GB" sz="3000" dirty="0"/>
          </a:p>
          <a:p>
            <a:r>
              <a:rPr lang="en-GB" sz="3600" dirty="0"/>
              <a:t>Discover</a:t>
            </a:r>
          </a:p>
          <a:p>
            <a:pPr lvl="1"/>
            <a:r>
              <a:rPr lang="en-GB" sz="3400" dirty="0"/>
              <a:t>Database (Structured Data)</a:t>
            </a:r>
          </a:p>
          <a:p>
            <a:pPr lvl="1"/>
            <a:r>
              <a:rPr lang="en-GB" sz="3400" dirty="0"/>
              <a:t>Files and Emails (Unstructured Data)</a:t>
            </a:r>
          </a:p>
          <a:p>
            <a:pPr lvl="1"/>
            <a:r>
              <a:rPr lang="en-GB" sz="3400" dirty="0"/>
              <a:t>Data on the Network</a:t>
            </a:r>
          </a:p>
        </p:txBody>
      </p:sp>
    </p:spTree>
    <p:extLst>
      <p:ext uri="{BB962C8B-B14F-4D97-AF65-F5344CB8AC3E}">
        <p14:creationId xmlns:p14="http://schemas.microsoft.com/office/powerpoint/2010/main" val="2316955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BDD5-7145-8564-3610-7ACF0422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5B2C-B0BF-E2A2-659E-9E8DE87D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Security: Protection and Compliance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E6FB7-BB23-1D5E-7215-2EA7B9301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/>
          </a:bodyPr>
          <a:lstStyle/>
          <a:p>
            <a:r>
              <a:rPr lang="en-US" sz="3600" dirty="0"/>
              <a:t>Protection:</a:t>
            </a:r>
          </a:p>
          <a:p>
            <a:pPr lvl="1"/>
            <a:r>
              <a:rPr lang="en-US" sz="3400" dirty="0"/>
              <a:t>Encrypt Data Both Stored and Sent</a:t>
            </a:r>
          </a:p>
          <a:p>
            <a:pPr lvl="1"/>
            <a:r>
              <a:rPr lang="en-US" sz="3400" dirty="0"/>
              <a:t>Management Keys</a:t>
            </a:r>
          </a:p>
          <a:p>
            <a:pPr lvl="1"/>
            <a:r>
              <a:rPr lang="en-US" sz="3400" dirty="0"/>
              <a:t>Access Control</a:t>
            </a:r>
          </a:p>
          <a:p>
            <a:pPr lvl="1"/>
            <a:r>
              <a:rPr lang="en-US" sz="3400" dirty="0"/>
              <a:t>Backup Data</a:t>
            </a:r>
          </a:p>
          <a:p>
            <a:r>
              <a:rPr lang="en-US" sz="3600" dirty="0"/>
              <a:t>Compliance:</a:t>
            </a:r>
          </a:p>
          <a:p>
            <a:pPr lvl="1"/>
            <a:r>
              <a:rPr lang="en-US" sz="3400" dirty="0"/>
              <a:t>Reporting Requirements Based on Stored Data</a:t>
            </a:r>
          </a:p>
          <a:p>
            <a:pPr lvl="1"/>
            <a:r>
              <a:rPr lang="en-US" sz="3400" dirty="0"/>
              <a:t>Retain Data Only As Long as Needed</a:t>
            </a:r>
          </a:p>
        </p:txBody>
      </p:sp>
    </p:spTree>
    <p:extLst>
      <p:ext uri="{BB962C8B-B14F-4D97-AF65-F5344CB8AC3E}">
        <p14:creationId xmlns:p14="http://schemas.microsoft.com/office/powerpoint/2010/main" val="2657162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D67B-214B-56DA-C263-6EB2C6C7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894A-4C46-BEA0-6888-FDBFEBC3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Security: Detection and Response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9E761-86C9-9A9B-B653-8817CCE28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Detection:</a:t>
            </a:r>
          </a:p>
          <a:p>
            <a:pPr lvl="1"/>
            <a:r>
              <a:rPr lang="en-US" sz="3400" dirty="0"/>
              <a:t>Monitor Data Traffic</a:t>
            </a:r>
          </a:p>
          <a:p>
            <a:pPr lvl="1"/>
            <a:r>
              <a:rPr lang="en-US" sz="3400" dirty="0"/>
              <a:t>User Behavior Analytics</a:t>
            </a:r>
          </a:p>
          <a:p>
            <a:pPr lvl="1"/>
            <a:r>
              <a:rPr lang="en-US" sz="3400" dirty="0"/>
              <a:t>Alerts Based on Monitoring</a:t>
            </a:r>
          </a:p>
          <a:p>
            <a:r>
              <a:rPr lang="en-US" sz="3600" dirty="0"/>
              <a:t>Response:</a:t>
            </a:r>
          </a:p>
          <a:p>
            <a:pPr lvl="1"/>
            <a:r>
              <a:rPr lang="en-US" sz="3400" dirty="0"/>
              <a:t>Cases Generated from Alerts</a:t>
            </a:r>
          </a:p>
          <a:p>
            <a:pPr lvl="1"/>
            <a:r>
              <a:rPr lang="en-US" sz="3400" dirty="0"/>
              <a:t>Dynamic Playbook to Respond to Cases</a:t>
            </a:r>
          </a:p>
          <a:p>
            <a:pPr lvl="1"/>
            <a:r>
              <a:rPr lang="en-US" sz="3400" dirty="0"/>
              <a:t>Orchestrate Responses and Automate What You Can</a:t>
            </a:r>
          </a:p>
        </p:txBody>
      </p:sp>
    </p:spTree>
    <p:extLst>
      <p:ext uri="{BB962C8B-B14F-4D97-AF65-F5344CB8AC3E}">
        <p14:creationId xmlns:p14="http://schemas.microsoft.com/office/powerpoint/2010/main" val="2933131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765FEC-44A0-24BD-6500-8286808F2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837090"/>
            <a:ext cx="9448800" cy="11838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988291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49</TotalTime>
  <Words>425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Vapor Trail</vt:lpstr>
      <vt:lpstr>Cybersecurity Architecture Final Presentation</vt:lpstr>
      <vt:lpstr>Networks: Firewalls </vt:lpstr>
      <vt:lpstr>Networks: Segmentation</vt:lpstr>
      <vt:lpstr>Networks: VPNs</vt:lpstr>
      <vt:lpstr>Networks: SASE</vt:lpstr>
      <vt:lpstr>Application Security: SDLC</vt:lpstr>
      <vt:lpstr>Application Security: Secure Coding</vt:lpstr>
      <vt:lpstr>Application Security: Vulnerability Testing</vt:lpstr>
      <vt:lpstr>Data Security: Why?</vt:lpstr>
      <vt:lpstr>Data Security: Governance and Discovery</vt:lpstr>
      <vt:lpstr>Data Security: Protection and Compliance </vt:lpstr>
      <vt:lpstr>Data Security: Detection and Response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Bumpus, Dominic Jacob</dc:creator>
  <cp:lastModifiedBy>Bumpus, Dominic Jacob</cp:lastModifiedBy>
  <cp:revision>1</cp:revision>
  <dcterms:created xsi:type="dcterms:W3CDTF">2025-02-28T00:02:36Z</dcterms:created>
  <dcterms:modified xsi:type="dcterms:W3CDTF">2025-02-28T00:52:06Z</dcterms:modified>
</cp:coreProperties>
</file>